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5"/>
  </p:notesMasterIdLst>
  <p:handoutMasterIdLst>
    <p:handoutMasterId r:id="rId16"/>
  </p:handoutMasterIdLst>
  <p:sldIdLst>
    <p:sldId id="312" r:id="rId5"/>
    <p:sldId id="304" r:id="rId6"/>
    <p:sldId id="282" r:id="rId7"/>
    <p:sldId id="315" r:id="rId8"/>
    <p:sldId id="317" r:id="rId9"/>
    <p:sldId id="319" r:id="rId10"/>
    <p:sldId id="320" r:id="rId11"/>
    <p:sldId id="321" r:id="rId12"/>
    <p:sldId id="322" r:id="rId13"/>
    <p:sldId id="323" r:id="rId14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5388" autoAdjust="0"/>
  </p:normalViewPr>
  <p:slideViewPr>
    <p:cSldViewPr snapToGrid="0" snapToObjects="1">
      <p:cViewPr varScale="1">
        <p:scale>
          <a:sx n="108" d="100"/>
          <a:sy n="108" d="100"/>
        </p:scale>
        <p:origin x="654" y="108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332F6-6B96-DD3A-95AD-7196DD5B5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0881AE-F98E-0A7E-FD8B-A9270A7571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71F5E3-C581-9117-4D0E-11044C78D2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04926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F7E1B-CA56-F547-29C9-E38F6601B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0CC273-BE3F-B933-DF1E-A3B623114F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44DAB0-F1E9-2428-3F1C-F3277E3A20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79040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FF8BA-031D-7CC7-BAF4-32300BDDE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02F95-6C7A-091A-75B2-9836DE066E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AA2B8D-82BC-9ABA-488B-ADC75F1B3D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6113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408AA-39A6-BB29-D712-445A469A8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023795-E924-2DAA-AFE8-E8F9FF9487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FC0FCE-E46D-7713-3C8F-AC13F381F5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460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sz="2400" b="0" u="sng" dirty="0">
                <a:solidFill>
                  <a:schemeClr val="tx1"/>
                </a:solidFill>
              </a:rPr>
              <a:t>Group members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Archana Mannam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Sai Supraja Ganta </a:t>
            </a:r>
            <a:br>
              <a:rPr lang="en-US" sz="2400" dirty="0"/>
            </a:br>
            <a:br>
              <a:rPr lang="en-US" sz="2400" dirty="0"/>
            </a:br>
            <a:r>
              <a:rPr lang="en-US" sz="2400"/>
              <a:t> Oluwatomisin Ajayi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3593" y="2851753"/>
            <a:ext cx="6672457" cy="1154493"/>
          </a:xfrm>
        </p:spPr>
        <p:txBody>
          <a:bodyPr/>
          <a:lstStyle/>
          <a:p>
            <a:r>
              <a:rPr lang="en-US" sz="1800" dirty="0"/>
              <a:t>Reinforcement Learning in </a:t>
            </a:r>
            <a:r>
              <a:rPr lang="en-US" sz="1800" dirty="0" err="1"/>
              <a:t>Gridworld</a:t>
            </a:r>
            <a:r>
              <a:rPr lang="en-US" sz="1800" dirty="0"/>
              <a:t> and Pacman: Performance Analysis of </a:t>
            </a:r>
            <a:br>
              <a:rPr lang="en-US" sz="1800" dirty="0"/>
            </a:br>
            <a:r>
              <a:rPr lang="en-US" sz="1800" dirty="0"/>
              <a:t>Q-Learning vs Value Iteration</a:t>
            </a:r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/>
              <a:t>STATEMENT OF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4097772"/>
          </a:xfrm>
        </p:spPr>
        <p:txBody>
          <a:bodyPr>
            <a:normAutofit/>
          </a:bodyPr>
          <a:lstStyle/>
          <a:p>
            <a:r>
              <a:rPr lang="en-US" dirty="0"/>
              <a:t>This project explores how two foundational reinforcement learning techniques </a:t>
            </a:r>
            <a:r>
              <a:rPr lang="en-US" b="1" dirty="0"/>
              <a:t>Q-Learning</a:t>
            </a:r>
            <a:r>
              <a:rPr lang="en-US" dirty="0"/>
              <a:t> and </a:t>
            </a:r>
            <a:r>
              <a:rPr lang="en-US" b="1" dirty="0"/>
              <a:t>Value Iteration</a:t>
            </a:r>
            <a:r>
              <a:rPr lang="en-US" dirty="0"/>
              <a:t>—perform when training an agent in simulated game environments. Using Python RL framework, we aim to evaluate which method leads to faster and more optimal decision-making.</a:t>
            </a:r>
          </a:p>
          <a:p>
            <a:pPr marL="0" indent="0">
              <a:buNone/>
            </a:pPr>
            <a:r>
              <a:rPr lang="en-US" dirty="0"/>
              <a:t>Ob</a:t>
            </a:r>
            <a:r>
              <a:rPr lang="en-US" b="1" dirty="0"/>
              <a:t>jectives </a:t>
            </a:r>
          </a:p>
          <a:p>
            <a:pPr marL="0" indent="0">
              <a:buNone/>
            </a:pPr>
            <a:r>
              <a:rPr lang="en-US" sz="1600" dirty="0"/>
              <a:t>The primary objectives of this project are to: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b="1" dirty="0"/>
              <a:t>Train RL agents</a:t>
            </a:r>
            <a:r>
              <a:rPr lang="en-US" sz="1600" dirty="0"/>
              <a:t> using Q-Learning and Value Iteration in both </a:t>
            </a:r>
            <a:r>
              <a:rPr lang="en-US" sz="1600" dirty="0" err="1"/>
              <a:t>Gridworld</a:t>
            </a:r>
            <a:r>
              <a:rPr lang="en-US" sz="1600" dirty="0"/>
              <a:t> and Pacman environments.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b="1" dirty="0"/>
              <a:t>Compare agent performance</a:t>
            </a:r>
            <a:r>
              <a:rPr lang="en-US" sz="1600" dirty="0"/>
              <a:t> based on standard reinforcement learning metrics like cumulative reward and policy convergence.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b="1" dirty="0"/>
              <a:t>Investigate how algorithmic design impacts learning</a:t>
            </a:r>
            <a:r>
              <a:rPr lang="en-US" sz="1600" dirty="0"/>
              <a:t> in static (</a:t>
            </a:r>
            <a:r>
              <a:rPr lang="en-US" sz="1600" dirty="0" err="1"/>
              <a:t>Gridworld</a:t>
            </a:r>
            <a:r>
              <a:rPr lang="en-US" sz="1600" dirty="0"/>
              <a:t>) versus adversarial (Pacman) environments.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b="1" dirty="0"/>
              <a:t>Document and present findings</a:t>
            </a:r>
            <a:r>
              <a:rPr lang="en-US" sz="1600" dirty="0"/>
              <a:t> in a structured report and presentation.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6"/>
            <a:ext cx="7796464" cy="541404"/>
          </a:xfrm>
        </p:spPr>
        <p:txBody>
          <a:bodyPr/>
          <a:lstStyle/>
          <a:p>
            <a:r>
              <a:rPr lang="en-US" dirty="0"/>
              <a:t>Approach</a:t>
            </a:r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303028"/>
            <a:ext cx="3283119" cy="3431947"/>
          </a:xfrm>
        </p:spPr>
        <p:txBody>
          <a:bodyPr>
            <a:normAutofit/>
          </a:bodyPr>
          <a:lstStyle/>
          <a:p>
            <a:r>
              <a:rPr lang="en-US" sz="2000" b="1" dirty="0"/>
              <a:t>Tools &amp; Environment:</a:t>
            </a:r>
          </a:p>
          <a:p>
            <a:r>
              <a:rPr lang="en-US" sz="1600" b="1" dirty="0"/>
              <a:t>Programming language:</a:t>
            </a:r>
            <a:r>
              <a:rPr lang="en-US" sz="1600" dirty="0"/>
              <a:t> Python</a:t>
            </a:r>
          </a:p>
          <a:p>
            <a:r>
              <a:rPr lang="en-US" sz="1600" b="1" dirty="0"/>
              <a:t>Techniques Used:</a:t>
            </a:r>
          </a:p>
          <a:p>
            <a:r>
              <a:rPr lang="en-US" sz="1600" b="1" dirty="0"/>
              <a:t>Q-Learning (Model-Free RL):</a:t>
            </a:r>
            <a:br>
              <a:rPr lang="en-US" sz="1600" dirty="0"/>
            </a:br>
            <a:r>
              <a:rPr lang="en-US" sz="1600" dirty="0"/>
              <a:t>Learns optimal action-value function directly through interaction.</a:t>
            </a:r>
          </a:p>
          <a:p>
            <a:r>
              <a:rPr lang="en-US" sz="1600" b="1" dirty="0"/>
              <a:t>Value Iteration (Model-Based RL):</a:t>
            </a:r>
            <a:br>
              <a:rPr lang="en-US" sz="1600" dirty="0"/>
            </a:br>
            <a:r>
              <a:rPr lang="en-US" sz="1600" dirty="0"/>
              <a:t>Uses full knowledge of environment transitions to derive optimal policy.</a:t>
            </a:r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33680A80-5C61-DD02-1119-0565C0AD5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82159" y="2303028"/>
            <a:ext cx="3284951" cy="3720337"/>
          </a:xfrm>
        </p:spPr>
        <p:txBody>
          <a:bodyPr>
            <a:normAutofit/>
          </a:bodyPr>
          <a:lstStyle/>
          <a:p>
            <a:r>
              <a:rPr lang="en-US" b="1" dirty="0"/>
              <a:t>Implementation Plan:</a:t>
            </a:r>
          </a:p>
          <a:p>
            <a:r>
              <a:rPr lang="en-US" dirty="0"/>
              <a:t>Set up and configure base agents.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Run experiments with varying parameters (discount, learning rate).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Log agent performance over multiple episodes.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Visualize and compare learning behavior.</a:t>
            </a: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65393"/>
            <a:ext cx="7631709" cy="597077"/>
          </a:xfrm>
        </p:spPr>
        <p:txBody>
          <a:bodyPr/>
          <a:lstStyle/>
          <a:p>
            <a:r>
              <a:rPr lang="en-US" dirty="0"/>
              <a:t>Deliverables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82BA839-0099-C9CC-3BC8-AF2647DF8EE0}"/>
              </a:ext>
            </a:extLst>
          </p:cNvPr>
          <p:cNvGraphicFramePr>
            <a:graphicFrameLocks noGrp="1"/>
          </p:cNvGraphicFramePr>
          <p:nvPr>
            <p:ph sz="half" idx="15"/>
            <p:extLst>
              <p:ext uri="{D42A27DB-BD31-4B8C-83A1-F6EECF244321}">
                <p14:modId xmlns:p14="http://schemas.microsoft.com/office/powerpoint/2010/main" val="2942089812"/>
              </p:ext>
            </p:extLst>
          </p:nvPr>
        </p:nvGraphicFramePr>
        <p:xfrm>
          <a:off x="914400" y="2234344"/>
          <a:ext cx="8771139" cy="2984312"/>
        </p:xfrm>
        <a:graphic>
          <a:graphicData uri="http://schemas.openxmlformats.org/drawingml/2006/table">
            <a:tbl>
              <a:tblPr/>
              <a:tblGrid>
                <a:gridCol w="2923713">
                  <a:extLst>
                    <a:ext uri="{9D8B030D-6E8A-4147-A177-3AD203B41FA5}">
                      <a16:colId xmlns:a16="http://schemas.microsoft.com/office/drawing/2014/main" val="3078367202"/>
                    </a:ext>
                  </a:extLst>
                </a:gridCol>
                <a:gridCol w="2923713">
                  <a:extLst>
                    <a:ext uri="{9D8B030D-6E8A-4147-A177-3AD203B41FA5}">
                      <a16:colId xmlns:a16="http://schemas.microsoft.com/office/drawing/2014/main" val="4006120094"/>
                    </a:ext>
                  </a:extLst>
                </a:gridCol>
                <a:gridCol w="2923713">
                  <a:extLst>
                    <a:ext uri="{9D8B030D-6E8A-4147-A177-3AD203B41FA5}">
                      <a16:colId xmlns:a16="http://schemas.microsoft.com/office/drawing/2014/main" val="2468384077"/>
                    </a:ext>
                  </a:extLst>
                </a:gridCol>
              </a:tblGrid>
              <a:tr h="3309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Deliverable</a:t>
                      </a:r>
                      <a:endParaRPr lang="en-US" sz="1300"/>
                    </a:p>
                  </a:txBody>
                  <a:tcPr marL="64587" marR="64587" marT="32294" marB="322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Description</a:t>
                      </a:r>
                      <a:endParaRPr lang="en-US" sz="1300"/>
                    </a:p>
                  </a:txBody>
                  <a:tcPr marL="64587" marR="64587" marT="32294" marB="322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Purpose</a:t>
                      </a:r>
                      <a:endParaRPr lang="en-US" sz="1300"/>
                    </a:p>
                  </a:txBody>
                  <a:tcPr marL="64587" marR="64587" marT="32294" marB="322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1473104"/>
                  </a:ext>
                </a:extLst>
              </a:tr>
              <a:tr h="580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KE" sz="1300" dirty="0"/>
                        <a:t>✅ </a:t>
                      </a:r>
                      <a:r>
                        <a:rPr lang="en-US" sz="1300" b="1" dirty="0"/>
                        <a:t>GitHub Repository</a:t>
                      </a:r>
                      <a:endParaRPr lang="en-US" sz="1300" dirty="0"/>
                    </a:p>
                  </a:txBody>
                  <a:tcPr marL="64587" marR="64587" marT="32294" marB="322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300"/>
                        <a:t>Source code, documentation, experiment scripts</a:t>
                      </a:r>
                    </a:p>
                  </a:txBody>
                  <a:tcPr marL="64587" marR="64587" marT="32294" marB="322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Public, verifiable implementation</a:t>
                      </a:r>
                    </a:p>
                  </a:txBody>
                  <a:tcPr marL="64587" marR="64587" marT="32294" marB="322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957246"/>
                  </a:ext>
                </a:extLst>
              </a:tr>
              <a:tr h="580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KE" sz="1300"/>
                        <a:t>✅ </a:t>
                      </a:r>
                      <a:r>
                        <a:rPr lang="en-US" sz="1300" b="1"/>
                        <a:t>Experiment Logs</a:t>
                      </a:r>
                      <a:endParaRPr lang="en-US" sz="1300"/>
                    </a:p>
                  </a:txBody>
                  <a:tcPr marL="64587" marR="64587" marT="32294" marB="322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Data on agent performance across episodes</a:t>
                      </a:r>
                    </a:p>
                  </a:txBody>
                  <a:tcPr marL="64587" marR="64587" marT="32294" marB="322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For analysis and visualization</a:t>
                      </a:r>
                    </a:p>
                  </a:txBody>
                  <a:tcPr marL="64587" marR="64587" marT="32294" marB="322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2153956"/>
                  </a:ext>
                </a:extLst>
              </a:tr>
              <a:tr h="580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KE" sz="1300"/>
                        <a:t>✅ </a:t>
                      </a:r>
                      <a:r>
                        <a:rPr lang="en-US" sz="1300" b="1"/>
                        <a:t>Data Visualizations</a:t>
                      </a:r>
                      <a:endParaRPr lang="en-US" sz="1300"/>
                    </a:p>
                  </a:txBody>
                  <a:tcPr marL="64587" marR="64587" marT="32294" marB="322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Graphs of rewards, convergence, win/loss rates</a:t>
                      </a:r>
                    </a:p>
                  </a:txBody>
                  <a:tcPr marL="64587" marR="64587" marT="32294" marB="322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To support performance insights</a:t>
                      </a:r>
                    </a:p>
                  </a:txBody>
                  <a:tcPr marL="64587" marR="64587" marT="32294" marB="322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0714480"/>
                  </a:ext>
                </a:extLst>
              </a:tr>
              <a:tr h="580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KE" sz="1300" dirty="0"/>
                        <a:t>✅ </a:t>
                      </a:r>
                      <a:r>
                        <a:rPr lang="en-US" sz="1300" b="1" dirty="0"/>
                        <a:t>Final Report (PDF)</a:t>
                      </a:r>
                      <a:endParaRPr lang="en-US" sz="1300" dirty="0"/>
                    </a:p>
                  </a:txBody>
                  <a:tcPr marL="64587" marR="64587" marT="32294" marB="322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Written summary with background, methods, results</a:t>
                      </a:r>
                    </a:p>
                  </a:txBody>
                  <a:tcPr marL="64587" marR="64587" marT="32294" marB="322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Academic submission deliverable</a:t>
                      </a:r>
                    </a:p>
                  </a:txBody>
                  <a:tcPr marL="64587" marR="64587" marT="32294" marB="322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99557"/>
                  </a:ext>
                </a:extLst>
              </a:tr>
              <a:tr h="3309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KE" sz="1300"/>
                        <a:t>✅ </a:t>
                      </a:r>
                      <a:r>
                        <a:rPr lang="en-US" sz="1300" b="1"/>
                        <a:t>Presentation Slides</a:t>
                      </a:r>
                      <a:endParaRPr lang="en-US" sz="1300"/>
                    </a:p>
                  </a:txBody>
                  <a:tcPr marL="64587" marR="64587" marT="32294" marB="322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Condensed version of findings</a:t>
                      </a:r>
                    </a:p>
                  </a:txBody>
                  <a:tcPr marL="64587" marR="64587" marT="32294" marB="322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Final oral presentation material</a:t>
                      </a:r>
                    </a:p>
                  </a:txBody>
                  <a:tcPr marL="64587" marR="64587" marT="32294" marB="322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2450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3" y="1089213"/>
            <a:ext cx="9879437" cy="980844"/>
          </a:xfrm>
        </p:spPr>
        <p:txBody>
          <a:bodyPr/>
          <a:lstStyle/>
          <a:p>
            <a:r>
              <a:rPr lang="en-US" dirty="0"/>
              <a:t>Evaluation Methodology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CC342-9FD1-7055-EAAC-008DC851B1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0564" y="2331958"/>
            <a:ext cx="2975217" cy="3704266"/>
          </a:xfrm>
        </p:spPr>
        <p:txBody>
          <a:bodyPr/>
          <a:lstStyle/>
          <a:p>
            <a:r>
              <a:rPr lang="en-US" dirty="0"/>
              <a:t>How We Measure Success:</a:t>
            </a:r>
          </a:p>
          <a:p>
            <a:r>
              <a:rPr lang="en-US" sz="1600" dirty="0"/>
              <a:t>The following criteria will help evaluate whether we have met the project objectives:</a:t>
            </a:r>
          </a:p>
          <a:p>
            <a:endParaRPr lang="en-US" sz="1600" dirty="0"/>
          </a:p>
          <a:p>
            <a:r>
              <a:rPr lang="en-US" sz="1200" b="1" dirty="0"/>
              <a:t>Key Metrics:</a:t>
            </a:r>
          </a:p>
          <a:p>
            <a:r>
              <a:rPr lang="en-US" sz="1200" b="1" dirty="0"/>
              <a:t>Cumulative Reward per Episode</a:t>
            </a:r>
            <a:endParaRPr lang="en-US" sz="1200" dirty="0"/>
          </a:p>
          <a:p>
            <a:r>
              <a:rPr lang="en-US" sz="1200" b="1" dirty="0"/>
              <a:t>Convergence Time (episodes to stability)</a:t>
            </a:r>
            <a:endParaRPr lang="en-US" sz="1200" dirty="0"/>
          </a:p>
          <a:p>
            <a:r>
              <a:rPr lang="en-US" sz="1200" b="1" dirty="0"/>
              <a:t>Success Rate (for Pacman)</a:t>
            </a:r>
            <a:endParaRPr lang="en-US" sz="1200" dirty="0"/>
          </a:p>
          <a:p>
            <a:r>
              <a:rPr lang="en-US" sz="1200" b="1" dirty="0"/>
              <a:t>Episode Length</a:t>
            </a:r>
            <a:endParaRPr lang="en-US" sz="1200" dirty="0"/>
          </a:p>
          <a:p>
            <a:endParaRPr lang="en-US" sz="1600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DB3991E-0605-C20E-53AD-D64E13638DA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958036531"/>
              </p:ext>
            </p:extLst>
          </p:nvPr>
        </p:nvGraphicFramePr>
        <p:xfrm>
          <a:off x="5087938" y="2332039"/>
          <a:ext cx="6345236" cy="3571613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227408">
                  <a:extLst>
                    <a:ext uri="{9D8B030D-6E8A-4147-A177-3AD203B41FA5}">
                      <a16:colId xmlns:a16="http://schemas.microsoft.com/office/drawing/2014/main" val="180956085"/>
                    </a:ext>
                  </a:extLst>
                </a:gridCol>
                <a:gridCol w="2964338">
                  <a:extLst>
                    <a:ext uri="{9D8B030D-6E8A-4147-A177-3AD203B41FA5}">
                      <a16:colId xmlns:a16="http://schemas.microsoft.com/office/drawing/2014/main" val="118070687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50154702"/>
                    </a:ext>
                  </a:extLst>
                </a:gridCol>
                <a:gridCol w="945210">
                  <a:extLst>
                    <a:ext uri="{9D8B030D-6E8A-4147-A177-3AD203B41FA5}">
                      <a16:colId xmlns:a16="http://schemas.microsoft.com/office/drawing/2014/main" val="1872764148"/>
                    </a:ext>
                  </a:extLst>
                </a:gridCol>
              </a:tblGrid>
              <a:tr h="5580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Objective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Evaluation Method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9142786"/>
                  </a:ext>
                </a:extLst>
              </a:tr>
              <a:tr h="5580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Train and test both agents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Verify correct implementation and execution in Python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8576737"/>
                  </a:ext>
                </a:extLst>
              </a:tr>
              <a:tr h="5924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Compare 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Use key RL metrics: reward, convergence rate, episode length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6410507"/>
                  </a:ext>
                </a:extLst>
              </a:tr>
              <a:tr h="5580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Understand algorithm behavior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Analyze logged data and visual learning trends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8116840"/>
                  </a:ext>
                </a:extLst>
              </a:tr>
              <a:tr h="5580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Produce actionable insights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Summarize findings in a formal report and class presentation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3592559"/>
                  </a:ext>
                </a:extLst>
              </a:tr>
              <a:tr h="74692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65649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87529-809D-23D4-0AE9-DD0FAAF53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0C94A2D-3D8B-E3AE-229E-96BD0EF22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3737" y="331354"/>
            <a:ext cx="9879437" cy="980844"/>
          </a:xfrm>
        </p:spPr>
        <p:txBody>
          <a:bodyPr/>
          <a:lstStyle/>
          <a:p>
            <a:r>
              <a:rPr lang="en-US" dirty="0"/>
              <a:t>Results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1B71BCB-C29F-FFA2-FB40-A94B92400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228" y="1942414"/>
            <a:ext cx="10631384" cy="491558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2F90A95-421C-E0F5-D00C-3BFB80782A7E}"/>
              </a:ext>
            </a:extLst>
          </p:cNvPr>
          <p:cNvSpPr txBox="1"/>
          <p:nvPr/>
        </p:nvSpPr>
        <p:spPr>
          <a:xfrm>
            <a:off x="1624759" y="1431088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1F2328"/>
                </a:solidFill>
                <a:effectLst/>
                <a:latin typeface="-apple-system"/>
              </a:rPr>
              <a:t>Value Iteration in </a:t>
            </a:r>
            <a:r>
              <a:rPr lang="en-US" b="1" i="0" dirty="0" err="1">
                <a:solidFill>
                  <a:srgbClr val="1F2328"/>
                </a:solidFill>
                <a:effectLst/>
                <a:latin typeface="-apple-system"/>
              </a:rPr>
              <a:t>Gridworld</a:t>
            </a:r>
            <a:endParaRPr lang="en-US" b="1" i="0" dirty="0">
              <a:solidFill>
                <a:srgbClr val="1F2328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37510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A39F8-A7B0-B8F7-6A08-F8A6F35E2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A9E6111-4973-0973-BA20-86309D39A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3737" y="331354"/>
            <a:ext cx="9879437" cy="980844"/>
          </a:xfrm>
        </p:spPr>
        <p:txBody>
          <a:bodyPr/>
          <a:lstStyle/>
          <a:p>
            <a:r>
              <a:rPr lang="en-US" dirty="0"/>
              <a:t>Results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7F07FE-EA8E-580D-F2BC-10291B12245B}"/>
              </a:ext>
            </a:extLst>
          </p:cNvPr>
          <p:cNvSpPr txBox="1"/>
          <p:nvPr/>
        </p:nvSpPr>
        <p:spPr>
          <a:xfrm>
            <a:off x="1624759" y="1431088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Q-Learning in </a:t>
            </a:r>
            <a:r>
              <a:rPr lang="en-US" b="1" dirty="0" err="1"/>
              <a:t>Gridworld</a:t>
            </a:r>
            <a:endParaRPr lang="en-US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6C2AF6-DB5B-3DD9-6DFE-0E4D26ED0E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737" y="1919310"/>
            <a:ext cx="7693890" cy="482437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DF1A055-08F8-CACD-5028-4BFC79C7AFE1}"/>
              </a:ext>
            </a:extLst>
          </p:cNvPr>
          <p:cNvSpPr/>
          <p:nvPr/>
        </p:nvSpPr>
        <p:spPr>
          <a:xfrm>
            <a:off x="9321553" y="1919310"/>
            <a:ext cx="2787589" cy="48243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Purpose</a:t>
            </a:r>
          </a:p>
          <a:p>
            <a:r>
              <a:rPr lang="en-US" dirty="0">
                <a:solidFill>
                  <a:schemeClr val="tx1"/>
                </a:solidFill>
              </a:rPr>
              <a:t>Evaluate model-free learning in a simple environment.</a:t>
            </a:r>
          </a:p>
          <a:p>
            <a:r>
              <a:rPr lang="en-US" b="1" dirty="0">
                <a:solidFill>
                  <a:schemeClr val="tx1"/>
                </a:solidFill>
              </a:rPr>
              <a:t>Expected Behavior</a:t>
            </a:r>
          </a:p>
          <a:p>
            <a:r>
              <a:rPr lang="en-US" dirty="0">
                <a:solidFill>
                  <a:schemeClr val="tx1"/>
                </a:solidFill>
              </a:rPr>
              <a:t>Initial average reward: </a:t>
            </a:r>
            <a:r>
              <a:rPr lang="en-US" b="1" dirty="0">
                <a:solidFill>
                  <a:schemeClr val="tx1"/>
                </a:solidFill>
              </a:rPr>
              <a:t>−0.25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Reward after ~50 episodes: </a:t>
            </a:r>
            <a:r>
              <a:rPr lang="en-US" b="1" dirty="0">
                <a:solidFill>
                  <a:schemeClr val="tx1"/>
                </a:solidFill>
              </a:rPr>
              <a:t>+0.08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Slower but steady convergence</a:t>
            </a:r>
          </a:p>
          <a:p>
            <a:pPr algn="ctr"/>
            <a:endParaRPr lang="en-K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0569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0CA7E-DF31-EDCD-49CC-903D6771E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33620CF-B9D9-9F60-D060-8EA9EF06B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3737" y="331354"/>
            <a:ext cx="9879437" cy="980844"/>
          </a:xfrm>
        </p:spPr>
        <p:txBody>
          <a:bodyPr/>
          <a:lstStyle/>
          <a:p>
            <a:r>
              <a:rPr lang="en-US" dirty="0"/>
              <a:t>Results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25727C-3D77-1244-E503-EC014C641DA9}"/>
              </a:ext>
            </a:extLst>
          </p:cNvPr>
          <p:cNvSpPr txBox="1"/>
          <p:nvPr/>
        </p:nvSpPr>
        <p:spPr>
          <a:xfrm>
            <a:off x="1624759" y="1431088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Q-Learning in Pacman (</a:t>
            </a:r>
            <a:r>
              <a:rPr lang="en-US" b="1" dirty="0" err="1"/>
              <a:t>SmallGrid</a:t>
            </a:r>
            <a:r>
              <a:rPr lang="en-US" b="1" dirty="0"/>
              <a:t>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FA3CF2-4C70-0181-2189-6BAC081D7719}"/>
              </a:ext>
            </a:extLst>
          </p:cNvPr>
          <p:cNvSpPr/>
          <p:nvPr/>
        </p:nvSpPr>
        <p:spPr>
          <a:xfrm>
            <a:off x="8984201" y="1929921"/>
            <a:ext cx="2787589" cy="48243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Purpose</a:t>
            </a:r>
          </a:p>
          <a:p>
            <a:r>
              <a:rPr lang="en-US" dirty="0">
                <a:solidFill>
                  <a:schemeClr val="tx1"/>
                </a:solidFill>
              </a:rPr>
              <a:t>Study learning efficiency in a simple, partially adversarial maze.</a:t>
            </a:r>
          </a:p>
          <a:p>
            <a:r>
              <a:rPr lang="en-US" b="1" dirty="0">
                <a:solidFill>
                  <a:schemeClr val="tx1"/>
                </a:solidFill>
              </a:rPr>
              <a:t>Expected Behavior</a:t>
            </a:r>
          </a:p>
          <a:p>
            <a:r>
              <a:rPr lang="en-US" dirty="0">
                <a:solidFill>
                  <a:schemeClr val="tx1"/>
                </a:solidFill>
              </a:rPr>
              <a:t>Rewards improve from </a:t>
            </a:r>
            <a:r>
              <a:rPr lang="en-US" b="1" dirty="0">
                <a:solidFill>
                  <a:schemeClr val="tx1"/>
                </a:solidFill>
              </a:rPr>
              <a:t>−510 → −159</a:t>
            </a:r>
            <a:r>
              <a:rPr lang="en-US" dirty="0">
                <a:solidFill>
                  <a:schemeClr val="tx1"/>
                </a:solidFill>
              </a:rPr>
              <a:t> over 2000 episodes</a:t>
            </a:r>
          </a:p>
          <a:p>
            <a:r>
              <a:rPr lang="en-US" dirty="0">
                <a:solidFill>
                  <a:schemeClr val="tx1"/>
                </a:solidFill>
              </a:rPr>
              <a:t>Testing scores consistently exceed </a:t>
            </a:r>
            <a:r>
              <a:rPr lang="en-US" b="1" dirty="0">
                <a:solidFill>
                  <a:schemeClr val="tx1"/>
                </a:solidFill>
              </a:rPr>
              <a:t>495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Visual movement becomes efficient and stable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009139-D478-49A9-046C-07DBC932C7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325" y="2029341"/>
            <a:ext cx="7528504" cy="4525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109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E1259-2E15-11CF-9F8F-4903BF512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CDC18D4-70B5-320F-D622-0BB591732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3737" y="331354"/>
            <a:ext cx="9879437" cy="1469066"/>
          </a:xfrm>
        </p:spPr>
        <p:txBody>
          <a:bodyPr/>
          <a:lstStyle/>
          <a:p>
            <a:br>
              <a:rPr lang="en-US" dirty="0"/>
            </a:br>
            <a:r>
              <a:rPr lang="en-US" dirty="0"/>
              <a:t>Conclusion</a:t>
            </a:r>
            <a:br>
              <a:rPr lang="en-US" dirty="0"/>
            </a:br>
            <a:r>
              <a:rPr lang="en-US" dirty="0"/>
              <a:t>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AB34BF-961F-0CA1-84E2-A7EC07A333D1}"/>
              </a:ext>
            </a:extLst>
          </p:cNvPr>
          <p:cNvSpPr/>
          <p:nvPr/>
        </p:nvSpPr>
        <p:spPr>
          <a:xfrm>
            <a:off x="1553737" y="331354"/>
            <a:ext cx="10555549" cy="48243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Value Iteration is the fastest and most stable in deterministic environments like </a:t>
            </a:r>
            <a:r>
              <a:rPr lang="en-US" dirty="0" err="1">
                <a:solidFill>
                  <a:schemeClr val="tx1"/>
                </a:solidFill>
              </a:rPr>
              <a:t>Gridworld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r>
              <a:rPr lang="en-US" dirty="0">
                <a:solidFill>
                  <a:schemeClr val="tx1"/>
                </a:solidFill>
              </a:rPr>
              <a:t>Q-Learning adapts well to stochastic and adversarial environments like Pacman.</a:t>
            </a:r>
          </a:p>
          <a:p>
            <a:r>
              <a:rPr lang="en-US" dirty="0" err="1">
                <a:solidFill>
                  <a:schemeClr val="tx1"/>
                </a:solidFill>
              </a:rPr>
              <a:t>Gridworld</a:t>
            </a:r>
            <a:r>
              <a:rPr lang="en-US" dirty="0">
                <a:solidFill>
                  <a:schemeClr val="tx1"/>
                </a:solidFill>
              </a:rPr>
              <a:t> highlights the strengths of model-based RL.</a:t>
            </a:r>
          </a:p>
          <a:p>
            <a:r>
              <a:rPr lang="en-US" dirty="0">
                <a:solidFill>
                  <a:schemeClr val="tx1"/>
                </a:solidFill>
              </a:rPr>
              <a:t>Pacman demonstrates the flexibility and robustness of model-free RL.</a:t>
            </a:r>
          </a:p>
          <a:p>
            <a:r>
              <a:rPr lang="en-US" dirty="0">
                <a:solidFill>
                  <a:schemeClr val="tx1"/>
                </a:solidFill>
              </a:rPr>
              <a:t>All experimental findings align with theoretical expectations in reinforcement learning.</a:t>
            </a:r>
          </a:p>
          <a:p>
            <a:r>
              <a:rPr lang="en-US" dirty="0">
                <a:solidFill>
                  <a:schemeClr val="tx1"/>
                </a:solidFill>
              </a:rPr>
              <a:t>The project meets all planned objectives. Results are verified through logs, </a:t>
            </a:r>
            <a:r>
              <a:rPr lang="en-US" dirty="0" err="1">
                <a:solidFill>
                  <a:schemeClr val="tx1"/>
                </a:solidFill>
              </a:rPr>
              <a:t>autograder</a:t>
            </a:r>
            <a:r>
              <a:rPr lang="en-US" dirty="0">
                <a:solidFill>
                  <a:schemeClr val="tx1"/>
                </a:solidFill>
              </a:rPr>
              <a:t> outputs, and visual demonstrations.</a:t>
            </a:r>
          </a:p>
        </p:txBody>
      </p:sp>
    </p:spTree>
    <p:extLst>
      <p:ext uri="{BB962C8B-B14F-4D97-AF65-F5344CB8AC3E}">
        <p14:creationId xmlns:p14="http://schemas.microsoft.com/office/powerpoint/2010/main" val="100352247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{7209B8F0-66BA-42FC-BE1B-DBC398608AAF}TF8a9b5915-b8c7-461e-8cdd-693d48b5e32371f7b7e2_win32-4bf0b9a2ea37</Template>
  <TotalTime>33</TotalTime>
  <Words>554</Words>
  <Application>Microsoft Office PowerPoint</Application>
  <PresentationFormat>Widescreen</PresentationFormat>
  <Paragraphs>84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-apple-system</vt:lpstr>
      <vt:lpstr>Arial</vt:lpstr>
      <vt:lpstr>Arial Black</vt:lpstr>
      <vt:lpstr>Calibri</vt:lpstr>
      <vt:lpstr>Sabon Next LT</vt:lpstr>
      <vt:lpstr>Wingdings</vt:lpstr>
      <vt:lpstr>Custom</vt:lpstr>
      <vt:lpstr>Group members  Archana Mannam  Sai Supraja Ganta    Oluwatomisin Ajayi</vt:lpstr>
      <vt:lpstr>Reinforcement Learning in Gridworld and Pacman: Performance Analysis of  Q-Learning vs Value Iteration</vt:lpstr>
      <vt:lpstr>STATEMENT OF OBJECTIVES</vt:lpstr>
      <vt:lpstr>Approach</vt:lpstr>
      <vt:lpstr>Deliverables</vt:lpstr>
      <vt:lpstr>Evaluation Methodology</vt:lpstr>
      <vt:lpstr>Results </vt:lpstr>
      <vt:lpstr>Results </vt:lpstr>
      <vt:lpstr>Results </vt:lpstr>
      <vt:lpstr> Conclusion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TONNY BLAIR</dc:creator>
  <cp:lastModifiedBy>Tonny Ouma</cp:lastModifiedBy>
  <cp:revision>7</cp:revision>
  <dcterms:created xsi:type="dcterms:W3CDTF">2025-11-02T08:12:16Z</dcterms:created>
  <dcterms:modified xsi:type="dcterms:W3CDTF">2025-12-11T20:05:02Z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